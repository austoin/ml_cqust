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09" r:id="rId3"/>
    <p:sldId id="410" r:id="rId4"/>
    <p:sldId id="411" r:id="rId6"/>
    <p:sldId id="412" r:id="rId7"/>
    <p:sldId id="413" r:id="rId8"/>
    <p:sldId id="41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hyperlink" Target="http://qwone.com/~jason/20Newsgroups/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贝叶斯实验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56686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0" y="109537"/>
                </a:moveTo>
                <a:lnTo>
                  <a:pt x="4655566" y="109537"/>
                </a:lnTo>
                <a:lnTo>
                  <a:pt x="4655566" y="0"/>
                </a:lnTo>
                <a:lnTo>
                  <a:pt x="0" y="0"/>
                </a:lnTo>
                <a:lnTo>
                  <a:pt x="0" y="10953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566925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201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7592" y="938639"/>
            <a:ext cx="7836814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5"/>
              </a:lnSpc>
            </a:pPr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</a:rPr>
              <a:t>朴素贝叶斯的简单应用</a:t>
            </a:r>
            <a:endParaRPr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170" name="Picture 2" descr="C:\Users\zhouw\Desktop\扫描全能王 2020-10-30 09.18.29_1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8" r="2988" b="2852"/>
          <a:stretch>
            <a:fillRect/>
          </a:stretch>
        </p:blipFill>
        <p:spPr bwMode="auto">
          <a:xfrm>
            <a:off x="2438400" y="1676400"/>
            <a:ext cx="6871332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zhouw\Desktop\扫描全能王 2020-10-30 09.18.29_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9" r="20005" b="7656"/>
          <a:stretch>
            <a:fillRect/>
          </a:stretch>
        </p:blipFill>
        <p:spPr bwMode="auto">
          <a:xfrm rot="16200000">
            <a:off x="4955614" y="2046682"/>
            <a:ext cx="1836904" cy="68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56686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0" y="109537"/>
                </a:moveTo>
                <a:lnTo>
                  <a:pt x="4655566" y="109537"/>
                </a:lnTo>
                <a:lnTo>
                  <a:pt x="4655566" y="0"/>
                </a:lnTo>
                <a:lnTo>
                  <a:pt x="0" y="0"/>
                </a:lnTo>
                <a:lnTo>
                  <a:pt x="0" y="10953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566925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201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7592" y="938639"/>
            <a:ext cx="7836814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5"/>
              </a:lnSpc>
            </a:pPr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</a:rPr>
              <a:t>朴素贝叶斯的简单应用</a:t>
            </a:r>
            <a:endParaRPr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76400"/>
            <a:ext cx="4953000" cy="391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417109" y="5802868"/>
            <a:ext cx="21780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2555">
              <a:lnSpc>
                <a:spcPct val="100000"/>
              </a:lnSpc>
              <a:spcBef>
                <a:spcPts val="720"/>
              </a:spcBef>
            </a:pPr>
            <a:r>
              <a:rPr lang="zh-CN" altLang="en-US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</a:t>
            </a:r>
            <a:r>
              <a:rPr lang="zh-CN" altLang="en-US" spc="2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pc="270" dirty="0" smtClean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代码运行结果</a:t>
            </a:r>
            <a:endParaRPr lang="zh-CN" altLang="en-US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020" y="6224172"/>
            <a:ext cx="4495340" cy="557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56686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0" y="109537"/>
                </a:moveTo>
                <a:lnTo>
                  <a:pt x="4655566" y="109537"/>
                </a:lnTo>
                <a:lnTo>
                  <a:pt x="4655566" y="0"/>
                </a:lnTo>
                <a:lnTo>
                  <a:pt x="0" y="0"/>
                </a:lnTo>
                <a:lnTo>
                  <a:pt x="0" y="10953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566925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201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7592" y="938639"/>
            <a:ext cx="7836814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5"/>
              </a:lnSpc>
            </a:pPr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</a:rPr>
              <a:t>贝努利朴素贝叶斯</a:t>
            </a:r>
            <a:endParaRPr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6096000" cy="449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350" y="4902200"/>
            <a:ext cx="380365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56686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0" y="109537"/>
                </a:moveTo>
                <a:lnTo>
                  <a:pt x="4655566" y="109537"/>
                </a:lnTo>
                <a:lnTo>
                  <a:pt x="4655566" y="0"/>
                </a:lnTo>
                <a:lnTo>
                  <a:pt x="0" y="0"/>
                </a:lnTo>
                <a:lnTo>
                  <a:pt x="0" y="10953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566925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201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8400" y="677038"/>
            <a:ext cx="10969200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5"/>
              </a:lnSpc>
            </a:pPr>
            <a:r>
              <a:rPr dirty="0"/>
              <a:t>文本</a:t>
            </a:r>
            <a:r>
              <a:rPr spc="-20" dirty="0"/>
              <a:t>分</a:t>
            </a:r>
            <a:r>
              <a:rPr dirty="0"/>
              <a:t>类实验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169668" y="1786377"/>
            <a:ext cx="7774940" cy="410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965" marR="13335" indent="-469900" algn="just">
              <a:lnSpc>
                <a:spcPts val="2810"/>
              </a:lnSpc>
            </a:pPr>
            <a:r>
              <a:rPr sz="2600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</a:t>
            </a:r>
            <a:r>
              <a:rPr sz="26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实验数据：新闻组中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的</a:t>
            </a:r>
            <a:r>
              <a:rPr sz="26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个类</a:t>
            </a:r>
            <a:r>
              <a:rPr sz="2600" spc="-2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别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，原</a:t>
            </a:r>
            <a:r>
              <a:rPr sz="2600" spc="-2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始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文本</a:t>
            </a:r>
            <a:r>
              <a:rPr sz="2600" spc="-2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数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目约 两万个，根据新闻组中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文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本的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时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间前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后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，划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分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成训 练集</a:t>
            </a:r>
            <a:r>
              <a:rPr sz="26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(6</a:t>
            </a:r>
            <a:r>
              <a:rPr sz="2600" spc="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6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600" spc="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和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测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试集</a:t>
            </a:r>
            <a:r>
              <a:rPr sz="26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6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6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600" spc="-2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6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。</a:t>
            </a:r>
            <a:endParaRPr sz="26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483235">
              <a:spcBef>
                <a:spcPts val="250"/>
              </a:spcBef>
              <a:tabLst>
                <a:tab pos="920750" algn="l"/>
              </a:tabLst>
            </a:pPr>
            <a:r>
              <a:rPr sz="2200" spc="-20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</a:t>
            </a:r>
            <a:r>
              <a:rPr sz="22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该数据最初应该是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Ken</a:t>
            </a:r>
            <a:r>
              <a:rPr sz="2200" spc="3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Lan</a:t>
            </a:r>
            <a:r>
              <a:rPr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搜集整理。</a:t>
            </a:r>
            <a:endParaRPr sz="22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12700">
              <a:spcBef>
                <a:spcPts val="285"/>
              </a:spcBef>
              <a:tabLst>
                <a:tab pos="481965" algn="l"/>
              </a:tabLst>
            </a:pPr>
            <a:r>
              <a:rPr sz="2600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</a:t>
            </a:r>
            <a:r>
              <a:rPr sz="26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spc="-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数据获取：</a:t>
            </a:r>
            <a:endParaRPr sz="26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920750" indent="-437515">
              <a:spcBef>
                <a:spcPts val="290"/>
              </a:spcBef>
              <a:buClr>
                <a:srgbClr val="CC0000"/>
              </a:buClr>
              <a:buFont typeface="Wingdings" panose="05000000000000000000"/>
              <a:buChar char=""/>
              <a:tabLst>
                <a:tab pos="921385" algn="l"/>
              </a:tabLst>
            </a:pP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可使用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sklearn</a:t>
            </a:r>
            <a:r>
              <a:rPr sz="2200" spc="-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datasets.fetch_20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newsgr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获取原始文本</a:t>
            </a:r>
            <a:endParaRPr sz="22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920750" marR="5080" indent="-437515">
              <a:lnSpc>
                <a:spcPts val="2380"/>
              </a:lnSpc>
              <a:spcBef>
                <a:spcPts val="560"/>
              </a:spcBef>
              <a:buClr>
                <a:srgbClr val="CC0000"/>
              </a:buClr>
              <a:buFont typeface="Wingdings" panose="05000000000000000000"/>
              <a:buChar char=""/>
              <a:tabLst>
                <a:tab pos="921385" algn="l"/>
              </a:tabLst>
            </a:pP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或者使用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sklearn</a:t>
            </a:r>
            <a:r>
              <a:rPr sz="2200" spc="-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datasets.fetch_20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newsgr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200" spc="-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ps_vectorize</a:t>
            </a:r>
            <a:r>
              <a:rPr sz="2200" spc="10" dirty="0">
                <a:solidFill>
                  <a:prstClr val="black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200" spc="-2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返</a:t>
            </a:r>
            <a:r>
              <a:rPr sz="2200" spc="-2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 回文本向量</a:t>
            </a:r>
            <a:endParaRPr sz="22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12700">
              <a:spcBef>
                <a:spcPts val="250"/>
              </a:spcBef>
              <a:tabLst>
                <a:tab pos="481965" algn="l"/>
              </a:tabLst>
            </a:pPr>
            <a:r>
              <a:rPr sz="2600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</a:t>
            </a:r>
            <a:r>
              <a:rPr sz="26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该原始数据可以在该网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页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完整</a:t>
            </a:r>
            <a:r>
              <a:rPr sz="2600" spc="-15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下</a:t>
            </a:r>
            <a:r>
              <a:rPr sz="26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载：</a:t>
            </a:r>
            <a:endParaRPr sz="26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  <a:p>
            <a:pPr marL="920750" indent="-437515">
              <a:spcBef>
                <a:spcPts val="360"/>
              </a:spcBef>
              <a:buClr>
                <a:srgbClr val="CC0000"/>
              </a:buClr>
              <a:buFont typeface="Wingdings" panose="05000000000000000000"/>
              <a:buChar char=""/>
              <a:tabLst>
                <a:tab pos="921385" algn="l"/>
              </a:tabLst>
            </a:pPr>
            <a:r>
              <a:rPr sz="2200" u="sng" spc="-10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http://q</a:t>
            </a:r>
            <a:r>
              <a:rPr sz="2200" u="sng" spc="-15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wo</a:t>
            </a:r>
            <a:r>
              <a:rPr sz="2200" u="sng" spc="-10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ne.co</a:t>
            </a:r>
            <a:r>
              <a:rPr sz="2200" u="sng" spc="-35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m</a:t>
            </a:r>
            <a:r>
              <a:rPr sz="2200" u="sng" spc="-10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/~jason/2</a:t>
            </a:r>
            <a:r>
              <a:rPr sz="2200" u="sng" spc="-15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0Newsgr</a:t>
            </a:r>
            <a:r>
              <a:rPr sz="2200" u="sng" spc="-10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o</a:t>
            </a:r>
            <a:r>
              <a:rPr sz="2200" u="sng" spc="-15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u</a:t>
            </a:r>
            <a:r>
              <a:rPr sz="2200" u="sng" spc="-10" dirty="0">
                <a:solidFill>
                  <a:srgbClr val="336699"/>
                </a:solidFill>
                <a:latin typeface="Times New Roman" panose="02020603050405020304"/>
                <a:cs typeface="Times New Roman" panose="02020603050405020304"/>
                <a:hlinkClick r:id="rId1"/>
              </a:rPr>
              <a:t>ps/</a:t>
            </a:r>
            <a:endParaRPr sz="2200" dirty="0">
              <a:solidFill>
                <a:prstClr val="black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922020">
              <a:spcBef>
                <a:spcPts val="180"/>
              </a:spcBef>
              <a:tabLst>
                <a:tab pos="1316990" algn="l"/>
              </a:tabLst>
            </a:pPr>
            <a:r>
              <a:rPr sz="2100" dirty="0">
                <a:solidFill>
                  <a:srgbClr val="CC0000"/>
                </a:solidFill>
                <a:latin typeface="Wingdings" panose="05000000000000000000"/>
                <a:cs typeface="Wingdings" panose="05000000000000000000"/>
              </a:rPr>
              <a:t></a:t>
            </a:r>
            <a:r>
              <a:rPr sz="21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100" dirty="0">
                <a:solidFill>
                  <a:prstClr val="black"/>
                </a:solidFill>
                <a:latin typeface="华文新魏" panose="02010800040101010101" charset="-122"/>
                <a:cs typeface="华文新魏" panose="02010800040101010101" charset="-122"/>
              </a:rPr>
              <a:t>该课程的配套数据中已经包含该原始数据。</a:t>
            </a:r>
            <a:endParaRPr sz="2100" dirty="0">
              <a:solidFill>
                <a:prstClr val="black"/>
              </a:solidFill>
              <a:latin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48300" y="115951"/>
            <a:ext cx="4824349" cy="1408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156686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0" y="109537"/>
                </a:moveTo>
                <a:lnTo>
                  <a:pt x="4655566" y="109537"/>
                </a:lnTo>
                <a:lnTo>
                  <a:pt x="4655566" y="0"/>
                </a:lnTo>
                <a:lnTo>
                  <a:pt x="0" y="0"/>
                </a:lnTo>
                <a:lnTo>
                  <a:pt x="0" y="10953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566925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201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2312" y="1700274"/>
            <a:ext cx="5327650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560">
              <a:tabLst>
                <a:tab pos="3874770" algn="l"/>
              </a:tabLst>
            </a:pPr>
            <a:r>
              <a:rPr sz="1200" dirty="0">
                <a:solidFill>
                  <a:prstClr val="black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互联网新技术在线教育领航者	</a:t>
            </a:r>
            <a:r>
              <a:rPr spc="-7" baseline="7000" dirty="0">
                <a:solidFill>
                  <a:prstClr val="black"/>
                </a:solidFill>
                <a:latin typeface="Verdana" panose="020B0604030504040204"/>
                <a:cs typeface="Verdana" panose="020B0604030504040204"/>
              </a:rPr>
              <a:t>17/</a:t>
            </a:r>
            <a:r>
              <a:rPr spc="-15" baseline="7000" dirty="0">
                <a:solidFill>
                  <a:prstClr val="black"/>
                </a:solidFill>
                <a:latin typeface="Verdana" panose="020B0604030504040204"/>
                <a:cs typeface="Verdana" panose="020B0604030504040204"/>
              </a:rPr>
              <a:t>19</a:t>
            </a:r>
            <a:endParaRPr baseline="7000">
              <a:solidFill>
                <a:prstClr val="black"/>
              </a:solidFill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8400" y="677038"/>
            <a:ext cx="10969200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5"/>
              </a:lnSpc>
            </a:pPr>
            <a:r>
              <a:rPr dirty="0"/>
              <a:t>实验</a:t>
            </a:r>
            <a:r>
              <a:rPr spc="-20" dirty="0"/>
              <a:t>结</a:t>
            </a:r>
            <a:r>
              <a:rPr dirty="0"/>
              <a:t>果</a:t>
            </a:r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1614170" y="1244979"/>
            <a:ext cx="5327650" cy="50688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6525" y="181610"/>
            <a:ext cx="5410201" cy="4569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WPS 演示</Application>
  <PresentationFormat>宽屏</PresentationFormat>
  <Paragraphs>27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黑体</vt:lpstr>
      <vt:lpstr>Wingdings</vt:lpstr>
      <vt:lpstr>Times New Roman</vt:lpstr>
      <vt:lpstr>华文新魏</vt:lpstr>
      <vt:lpstr>Verdana</vt:lpstr>
      <vt:lpstr>Office 主题​​</vt:lpstr>
      <vt:lpstr>空白演示</vt:lpstr>
      <vt:lpstr>朴素贝叶斯的简单应用</vt:lpstr>
      <vt:lpstr>朴素贝叶斯的简单应用</vt:lpstr>
      <vt:lpstr>贝努利朴素贝叶斯</vt:lpstr>
      <vt:lpstr>文本分类实验</vt:lpstr>
      <vt:lpstr>实验结果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173</cp:revision>
  <dcterms:created xsi:type="dcterms:W3CDTF">2019-06-19T02:08:00Z</dcterms:created>
  <dcterms:modified xsi:type="dcterms:W3CDTF">2025-11-06T06:07:12Z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